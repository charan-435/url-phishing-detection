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4D8"/>
                </a:solidFill>
              </a:defRPr>
            </a:pPr>
            <a:r>
              <a:t>DEPHIDES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Deep Learning Based Phishing URL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Student Name:  [YOUR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Roll Number:   [YOUR ROLL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Course:           [COURSE NAME &amp; CODE]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1/11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1.   Introduction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2.   Motivation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3.   Methodology – Data Pipeline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4.   Methodology – Feature Extraction (30 Lexical Features)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5.   Methodology – Neural Network Architectures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6.   Results – Model Comparison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7.   Results – Performance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8.   Conclusion, Limitations &amp; Future Scope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 9.  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2/11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Phishing is a social engineering attack that uses fake URLs to steal user credentials.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Traditional defenses such as blacklists and heuristic rules fail against zero-day phishing campaigns.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Deep learning offers an automated, language-independent approach to detecting malicious URLs.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This project implements a character-level deep learning pipeline inspired by the DEPHIDES framework.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We compare 5 neural network families: ANN, CNN, RNN, Bidirectional RNN, and Attention networks.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The system processes raw URL strings without relying on any external lookups or third-party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3/11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Why This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Phishing attacks caused $4.1 billion in losses in 2023 alone (FBI IC3 Report).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New phishing domains are registered every minute – blacklists cannot keep up.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URLs are the first point of contact; blocking them early prevents the entire attack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Why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Traditional ML (Random Forest, SVM) requires manual feature engineering.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DL models learn features automatically from raw character sequences.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Character-level models are language-independent and resilient to obfuscation.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CNNs detect local patterns (n-grams); RNNs capture the structural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4/11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Methodology –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Dataset: ~415,000 URLs (364K training + 51K testing), balanced between phishing and legitimate.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Label Encoding: Phishing = 1 (positive class), Legitimate = 0.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URL Normalization: Convert to lowercase; preserve the protocol prefix (http/https) as a feature.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Character Tokenization: Each character is mapped to an integer index using a pre-built vocabulary.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Sequence Padding: All URLs are padded or truncated to a fixed length of 200 characters.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•  Embedding: Each character index is projected into a 50-dimensional continuous vector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66928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Raw URL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5779008"/>
            <a:ext cx="3200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14600" y="566928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Tokenize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5779008"/>
            <a:ext cx="3200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566928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Pad (200)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0720" y="5779008"/>
            <a:ext cx="3200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60" y="566928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Embed (50-D)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43800" y="5779008"/>
            <a:ext cx="3200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566928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DL 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26880" y="5779008"/>
            <a:ext cx="3200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6920" y="5669280"/>
            <a:ext cx="1463040" cy="5029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1A1A2E"/>
                </a:solidFill>
              </a:defRPr>
            </a:pPr>
            <a: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5/11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Methodology – 30 Lexical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</a:defRPr>
            </a:pPr>
            <a:r>
              <a:t>Structural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URL length, domain length, path length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Subdomain count, path depth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Counts of: dots, hyphens, underscores, slashes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Counts of: @, ?, =, &amp;, %, digits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</a:defRPr>
            </a:pPr>
            <a:r>
              <a:t>Statistical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Digit, letter, and special character ratios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Shannon Entropy of URL and domain (measures randomness)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Character repeat count (detects keyword stuffing)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Query parameter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</a:defRPr>
            </a:pPr>
            <a:r>
              <a:t>Binary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has_ip_address – Is the domain an IP (e.g. 192.168.1.1)?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has_port – Does a non-standard port appear?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has_https / has_http – Protocol detection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has_at_symbol – Presence of '@' (redirect trick)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has_double_slash – Extra '//' in path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has_dash_in_domain – Dashes often mimic real domains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is_shortened – Was a link shortener used? (bit.ly, t.co)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D6A0"/>
                </a:solidFill>
              </a:defRPr>
            </a:pPr>
            <a:r>
              <a:t>Total: 30 hand-crafted features extracted per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6/11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Methodology – Neural Network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371600"/>
            <a:ext cx="411480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Base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Complex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3716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1">
                <a:solidFill>
                  <a:srgbClr val="90E0EF"/>
                </a:solidFill>
              </a:defRPr>
            </a:pPr>
            <a:r>
              <a:t>ANN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920240"/>
            <a:ext cx="41148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Dense(128) → Flatten →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0292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7× Dense(128, tanh) → Flatten →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13716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1">
                <a:solidFill>
                  <a:srgbClr val="90E0EF"/>
                </a:solidFill>
              </a:defRPr>
            </a:pPr>
            <a:r>
              <a:t>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468880"/>
            <a:ext cx="41148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Conv1D(128) → Flatten →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50292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6 Conv Blocks (17 layers) → Flatten →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3716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1">
                <a:solidFill>
                  <a:srgbClr val="90E0EF"/>
                </a:solidFill>
              </a:defRPr>
            </a:pPr>
            <a:r>
              <a:t>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017520"/>
            <a:ext cx="41148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LSTM(128) →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0292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7× Stacked LSTM(128) →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13716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1">
                <a:solidFill>
                  <a:srgbClr val="90E0EF"/>
                </a:solidFill>
              </a:defRPr>
            </a:pPr>
            <a:r>
              <a:t>BRNN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566160"/>
            <a:ext cx="41148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BiLSTM(128) →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02920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6× BiLSTM(64) → BiLSTM(128) →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3716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1">
                <a:solidFill>
                  <a:srgbClr val="90E0EF"/>
                </a:solidFill>
              </a:defRPr>
            </a:pPr>
            <a:r>
              <a:t>Attention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114800"/>
            <a:ext cx="41148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SelfAttention → Flatten →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502920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Embedding → LSTM + BiLSTM + 2× SelfAttn →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900"/>
                </a:solidFill>
              </a:defRPr>
            </a:pPr>
            <a:r>
              <a:t>Optimizer: Adam (LR = 0.01)  |  Loss: Binary Cross-Entropy  |  Batch Size: 1024  |  Early Stopping (patience =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7/11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Results – 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371600"/>
            <a:ext cx="201168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371600"/>
            <a:ext cx="146304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371600"/>
            <a:ext cx="146304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146304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Recall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371600"/>
            <a:ext cx="1463040" cy="548640"/>
          </a:xfrm>
          <a:prstGeom prst="rect">
            <a:avLst/>
          </a:prstGeom>
          <a:solidFill>
            <a:srgbClr val="00B4D8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F1-Score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920240"/>
            <a:ext cx="201168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RNN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92024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06D6A0"/>
                </a:solidFill>
              </a:defRPr>
            </a:pPr>
            <a:r>
              <a:t>97%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92024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92024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92024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468880"/>
            <a:ext cx="201168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CNN Complex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46888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06D6A0"/>
                </a:solidFill>
              </a:defRPr>
            </a:pPr>
            <a:r>
              <a:t>97%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46888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46888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46888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017520"/>
            <a:ext cx="201168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BRNN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301752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06D6A0"/>
                </a:solidFill>
              </a:defRPr>
            </a:pPr>
            <a:r>
              <a:t>97%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01752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01752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017520"/>
            <a:ext cx="1463040" cy="548640"/>
          </a:xfrm>
          <a:prstGeom prst="rect">
            <a:avLst/>
          </a:prstGeom>
          <a:solidFill>
            <a:srgbClr val="1A3A2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566160"/>
            <a:ext cx="201168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CNN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56616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92%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56616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56616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56616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114800"/>
            <a:ext cx="201168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Attention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114800"/>
            <a:ext cx="146304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86%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114800"/>
            <a:ext cx="146304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114800"/>
            <a:ext cx="146304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114800"/>
            <a:ext cx="1463040" cy="548640"/>
          </a:xfrm>
          <a:prstGeom prst="rect">
            <a:avLst/>
          </a:prstGeom>
          <a:solidFill>
            <a:srgbClr val="2A2A45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4663440"/>
            <a:ext cx="201168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l">
              <a:defRPr sz="1300" b="1">
                <a:solidFill>
                  <a:srgbClr val="90E0EF"/>
                </a:solidFill>
              </a:defRPr>
            </a:pPr>
            <a:r>
              <a:t>ANN 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466344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81%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466344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66344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0.75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663440"/>
            <a:ext cx="146304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9900"/>
                </a:solidFill>
              </a:defRPr>
            </a:pPr>
            <a:r>
              <a:t>Test Set: 51,509 URLs  |  Top-3 models (highlighted) all achieve 97% 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8/11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Results – Performance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Key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CNN Complex and RNN Base achieve the highest accuracy (97%), validating both local pattern recognition and sequential memory.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The 17-layer CNN's depth gives it a 5% accuracy lead over the single-layer CNN Base (92%).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Bidirectional RNN matches CNN Complex, confirming that reading the URL in both directions provides equivalent context.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Attention Base achieves 86% — effective but hampered in the base scenario by limited context layers.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ANN Base serves as a strong baseline at 81%, proving that even simple models can learn from character embeddings.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Why CNN Complex Works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Lower layers detect small character patterns (n-grams like 'login-', 'verify', '.exe').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Higher layers combine them into abstract concepts of what a phishing URL 'looks like'.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Dropout (0.2) between blocks prevents overfitting to specific domain names.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9/11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Character-level deep learning effectively detects phishing URLs with up to 97% accuracy.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Complex architectures (multi-layer CNN, stacked LSTM) significantly outperform their base versions.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The 30 hand-crafted lexical features provide meaningful supplementary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Models are trained on a static dataset and may not generalize to brand-new phishing trends.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Complex models (7-layer LSTM, 17-layer CNN) are computationally expensive for real-time deployment.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The system only analyzes the URL string; it does not inspect the content of the landing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Integrate the trained model into a browser extension for real-time URL screening.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Explore Transformer-based architectures (e.g., BERT) for improved contextual understanding.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 Extend the dataset with adversarial phishing URLs to improve model robustness.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10/11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[1]  O. K. Sahingoz, E. Buber, O. Demir, B. Diri, "Machine Learning Based Phishing Detection From URLs," Expert Systems with Applications, vol. 117, pp. 345–357, 2019.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[2]  DEPHIDES: Deep Learning Based Phishing Detection System, IEEE Access, 2024.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[3]  S. Hochreiter, J. Schmidhuber, "Long Short-Term Memory," Neural Computation, vol. 9, no. 8, pp. 1735–1780, 1997.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[4]  A. Vaswani et al., "Attention Is All You Need," Advances in Neural Information Processing Systems, 2017.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[5]  FBI Internet Crime Complaint Center (IC3), Internet Crime Report, 2023.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•  [6]  Y. LeCun, Y. Bengio, G. Hinton, "Deep Learning," Nature, vol. 521, pp. 436–444, 2015.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Slide 11/11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April 19,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